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reframe: you are not a homeowner HOA, you are an operations organization. We built around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shape of the hour. Presentation now, live demo and Q&amp;A after, portal walkthrough for anyone interested.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area proof point is the strongest one: Canyon Gate at Cinco Ranch and Waterview, both nearby, already trusted. Lead with it verbally.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six are the buckets everything in the demo maps to. Not violations, not ACC, not voting.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credibility line. We are not another vendor with a database. We tried those and had to build the thing that actually 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category line out loud. This is the whole positioning against a portal.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them: keep this thread in mind. Every screen we open is one of these six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a pin, the record opens. Photos, vendor, history, open issues, invoices, budget. This is your strongest single visual.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Their July agenda is literally vendor reports, tree counts, pruning maps, irrigation trackers. This is the centerpiece for CLMA.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same thing Amanda just did with our security proposal. Say that: she already does this on real documents.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AI-native moment. A portal shows the variance. trustEd explains it and hands you the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last row is the point: exceptions that need a decision are surfaced, not buried in a hundred pages.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lead with the avatar. Show her work first, then reveal: the analysis you have been seeing is Amanda. Then let the president ask a real CLMA question. Accurate answer + cited source beats ten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concrete but do not over-promise a timeline. The message is: the burden is on us, not on the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this line, then move to the live demo. Do not read the whole deck; let the working product carry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554480"/>
            <a:ext cx="4206240" cy="4206240"/>
          </a:xfrm>
          <a:prstGeom prst="ellipse">
            <a:avLst/>
          </a:prstGeom>
          <a:solidFill>
            <a:srgbClr val="14294A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4663440"/>
            <a:ext cx="3108960" cy="3108960"/>
          </a:xfrm>
          <a:prstGeom prst="ellipse">
            <a:avLst/>
          </a:prstGeom>
          <a:solidFill>
            <a:srgbClr val="14294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777240"/>
            <a:ext cx="457200" cy="45720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777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ASSOCIATION MANAGEMENT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3172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operating system for</a:t>
            </a:r>
            <a:endParaRPr lang="en-US" sz="4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Landscape Management Association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160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9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everything CLMA owns, maintains, contracts for, and pays for.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100" kern="0" dirty="0">
                <a:solidFill>
                  <a:srgbClr val="A9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CLMA Board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HOUR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we’ll cover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7280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2112264"/>
            <a:ext cx="310896" cy="31089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59536" y="2112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965960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you’d be working with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1965960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local, technology-first management company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642616"/>
            <a:ext cx="1097280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59536" y="2788920"/>
            <a:ext cx="310896" cy="31089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59536" y="2788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2642616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CLMA is different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642616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operations organization, not a homeowner HOA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3319272"/>
            <a:ext cx="1097280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9536" y="3465576"/>
            <a:ext cx="310896" cy="31089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9536" y="3465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319272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got here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3319272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used the other platforms, then built our own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3995928"/>
            <a:ext cx="1097280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59536" y="4142232"/>
            <a:ext cx="310896" cy="31089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59536" y="4142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3995928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trustEd works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3995928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field issue, followed start to finish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0080" y="4672584"/>
            <a:ext cx="1097280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59536" y="4818888"/>
            <a:ext cx="310896" cy="31089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59536" y="4818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417320" y="4672584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Amanda does with your documents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0" y="4672584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contracts, bids, budgets, and reports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40080" y="5349240"/>
            <a:ext cx="1097280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59536" y="5495544"/>
            <a:ext cx="310896" cy="31089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59536" y="5495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1417320" y="5349240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we’d start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0" y="5349240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clean, low-friction transition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a live walkthrough and your questions, and the portal itself for any board member who wants to see it.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YOU’D BE WORKING WITH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management company that builds its own tools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30352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276856"/>
            <a:ext cx="457200" cy="45720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32688" y="2276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2402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and hands-on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50976" y="2834640"/>
            <a:ext cx="4681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Houston-area community management company, not a national call center.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09360" y="1965960"/>
            <a:ext cx="530352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01968" y="2276856"/>
            <a:ext cx="457200" cy="45720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01968" y="2276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22402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CPA-led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620256" y="2834640"/>
            <a:ext cx="4681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and run by a CPA. Financial rigor is the starting point, not an afterthought.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530352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32688" y="4334256"/>
            <a:ext cx="457200" cy="45720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32688" y="4334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2976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Technology-first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50976" y="4892040"/>
            <a:ext cx="4681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 trustEd ourselves. When the work needs something, we build it, we do not wait on a vendor.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309360" y="4023360"/>
            <a:ext cx="5303520" cy="1737360"/>
          </a:xfrm>
          <a:prstGeom prst="roundRect">
            <a:avLst>
              <a:gd name="adj" fmla="val 4737"/>
            </a:avLst>
          </a:prstGeom>
          <a:solidFill>
            <a:srgbClr val="FFF6DE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01968" y="4334256"/>
            <a:ext cx="457200" cy="45720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01968" y="4334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42976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Already in your area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620256" y="4892040"/>
            <a:ext cx="4681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manage Canyon Gate at Cinco Ranch and Waterview today. We know this part of Houston and these communities.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STARTING POINT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CLMA is not a homeowner HOA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work is operational: common-area assets, landscape and irrigation contracts, field maintenance, vendor performance, capital projects, budgets, and board oversight. So we did not bring you homeowner-HOA software.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640080" y="2788920"/>
            <a:ext cx="34137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3044952"/>
            <a:ext cx="384048" cy="38404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96112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3008376"/>
            <a:ext cx="249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Assets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3538728"/>
            <a:ext cx="295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Monuments, esplanades,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trees, irrigation, lights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19600" y="2788920"/>
            <a:ext cx="34137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75632" y="3044952"/>
            <a:ext cx="384048" cy="38404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75632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196840" y="3008376"/>
            <a:ext cx="249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Vendors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675632" y="3538728"/>
            <a:ext cx="295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Reports, performance,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99120" y="2788920"/>
            <a:ext cx="34137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5152" y="3044952"/>
            <a:ext cx="384048" cy="38404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55152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976360" y="3008376"/>
            <a:ext cx="249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Contracts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455152" y="3538728"/>
            <a:ext cx="295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terms,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renewals, RFPs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526280"/>
            <a:ext cx="34137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96112" y="4782312"/>
            <a:ext cx="384048" cy="38404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96112" y="4782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417320" y="4745736"/>
            <a:ext cx="249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Budgets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896112" y="5276088"/>
            <a:ext cx="295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tied to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work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419600" y="4526280"/>
            <a:ext cx="34137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75632" y="4782312"/>
            <a:ext cx="384048" cy="38404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675632" y="4782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196840" y="4745736"/>
            <a:ext cx="249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Projects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4675632" y="5276088"/>
            <a:ext cx="295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Quotes, trackers,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work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199120" y="4526280"/>
            <a:ext cx="34137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455152" y="4782312"/>
            <a:ext cx="384048" cy="38404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455152" y="4782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976360" y="4745736"/>
            <a:ext cx="249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Board oversight</a:t>
            </a:r>
            <a:endParaRPr lang="en-US" sz="1700" dirty="0"/>
          </a:p>
        </p:txBody>
      </p:sp>
      <p:sp>
        <p:nvSpPr>
          <p:cNvPr id="34" name="Text 32"/>
          <p:cNvSpPr txBox="1"/>
          <p:nvPr/>
        </p:nvSpPr>
        <p:spPr>
          <a:xfrm>
            <a:off x="8455152" y="5276088"/>
            <a:ext cx="295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Decisions, packages,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BUILT OUR OWN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used the other platforms first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402336" cy="40233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98448" y="193852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demoed and ran the leading association platforms ourselves.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235000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A9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managers, not shoppers. We lived inside them.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072384"/>
            <a:ext cx="402336" cy="40233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072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98448" y="299923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are good at holding information and giving you a place to look it up.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298448" y="341071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A9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 portal and database. Genuinely useful.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133088"/>
            <a:ext cx="402336" cy="40233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133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98448" y="4059936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 none of them do the actual management work.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298448" y="447141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A9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 contract, catching a budget variance, coordinating a vendor, preparing the board item. That still fell to people.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5193792"/>
            <a:ext cx="402336" cy="40233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5193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98448" y="51206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we built trustEd to do the work, not just store the records.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298448" y="55321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A9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is what we are here to show you.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THAT MATTERS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different categories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35661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05840" y="210312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670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management software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724912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Organizes the work your management team performs.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61188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3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live in the system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06908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3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search for what you need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452628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3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and your manager still do the work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498348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3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waits for you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355080" y="1828800"/>
            <a:ext cx="5257800" cy="3566160"/>
          </a:xfrm>
          <a:prstGeom prst="roundRect">
            <a:avLst>
              <a:gd name="adj" fmla="val 2308"/>
            </a:avLst>
          </a:prstGeom>
          <a:solidFill>
            <a:srgbClr val="0B1D34"/>
          </a:solidFill>
          <a:ln w="19050">
            <a:solidFill>
              <a:srgbClr val="D4AF37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720840" y="214884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trustEd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720840" y="2724912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Performs the work, documents it, and gives the board visibility into the result.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361188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350" dirty="0">
                <a:solidFill>
                  <a:srgbClr val="E7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contracts and reports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406908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350" dirty="0">
                <a:solidFill>
                  <a:srgbClr val="E7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what needs your attention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720840" y="452628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350" dirty="0">
                <a:solidFill>
                  <a:srgbClr val="E7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vendors and tracks cost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720840" y="498348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350" dirty="0">
                <a:solidFill>
                  <a:srgbClr val="E7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Prepares the board item for you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6692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B1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did not ask how to put CLMA into software. We asked how much of CLMA’s work the software can do.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DEMO, IN ONE THREAD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issue, start to finish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one real issue, a dead tree on an esplanade, from the moment it is spotted to the line item in the board package.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1600200" cy="22860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65860" y="3246120"/>
            <a:ext cx="548640" cy="5486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6586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886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Spotted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4297680"/>
            <a:ext cx="1380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tree found on a drive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2221992" y="370332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514600" y="2926080"/>
            <a:ext cx="1600200" cy="22860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40380" y="3246120"/>
            <a:ext cx="548640" cy="5486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04038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606040" y="3886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Logged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624328" y="4297680"/>
            <a:ext cx="1380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 to the esplanade asset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096512" y="370332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389120" y="2926080"/>
            <a:ext cx="1600200" cy="22860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14900" y="3246120"/>
            <a:ext cx="548640" cy="5486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91490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480560" y="3886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Coordinated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498848" y="4297680"/>
            <a:ext cx="1380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and history pulled, quote reviewed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971032" y="370332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263640" y="2926080"/>
            <a:ext cx="1600200" cy="22860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89420" y="3246120"/>
            <a:ext cx="548640" cy="5486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78942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355080" y="3886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Approved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373368" y="4297680"/>
            <a:ext cx="1380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checked, board approves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7845552" y="370332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8138160" y="2926080"/>
            <a:ext cx="1600200" cy="22860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663940" y="3246120"/>
            <a:ext cx="548640" cy="5486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66394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0" y="3886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247888" y="4297680"/>
            <a:ext cx="1380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order, invoice, completion photo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9720072" y="370332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10012680" y="2926080"/>
            <a:ext cx="1600200" cy="22860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0538460" y="3246120"/>
            <a:ext cx="548640" cy="5486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1053846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10104120" y="3886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Reported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10122408" y="4297680"/>
            <a:ext cx="1380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impact into the board package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AND 2  ·  SEE IT, LOG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asset on one map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583680" cy="4206240"/>
          </a:xfrm>
          <a:prstGeom prst="roundRect">
            <a:avLst>
              <a:gd name="adj" fmla="val 1304"/>
            </a:avLst>
          </a:prstGeom>
          <a:solidFill>
            <a:srgbClr val="E9EEF3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4846320"/>
            <a:ext cx="566928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017520" y="2194560"/>
            <a:ext cx="0" cy="347472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37760" y="2286000"/>
            <a:ext cx="1737360" cy="274320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94560" y="2834640"/>
            <a:ext cx="274320" cy="2743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9" name="Shape 7"/>
          <p:cNvSpPr/>
          <p:nvPr/>
        </p:nvSpPr>
        <p:spPr>
          <a:xfrm>
            <a:off x="3566160" y="3657600"/>
            <a:ext cx="384048" cy="38404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0" name="Shape 8"/>
          <p:cNvSpPr/>
          <p:nvPr/>
        </p:nvSpPr>
        <p:spPr>
          <a:xfrm>
            <a:off x="2651760" y="4937760"/>
            <a:ext cx="274320" cy="2743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0" y="3200400"/>
            <a:ext cx="274320" cy="2743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2" name="Shape 10"/>
          <p:cNvSpPr/>
          <p:nvPr/>
        </p:nvSpPr>
        <p:spPr>
          <a:xfrm>
            <a:off x="5760720" y="4480560"/>
            <a:ext cx="274320" cy="2743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3" name="Shape 11"/>
          <p:cNvSpPr/>
          <p:nvPr/>
        </p:nvSpPr>
        <p:spPr>
          <a:xfrm>
            <a:off x="4206240" y="5394960"/>
            <a:ext cx="274320" cy="2743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4" name="Shape 12"/>
          <p:cNvSpPr/>
          <p:nvPr/>
        </p:nvSpPr>
        <p:spPr>
          <a:xfrm>
            <a:off x="5394960" y="2743200"/>
            <a:ext cx="274320" cy="2743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55321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Monuments  ·  Esplanades  ·  Irrigation zones  ·  Tree corridors  ·  Intersections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589520" y="1828800"/>
            <a:ext cx="4023360" cy="420624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909560" y="199339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8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RECORD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7909560" y="22128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Esplanade at Main &amp; Canyon Gate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909560" y="26974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8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7909560" y="2916936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Yellowstone Landscape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909560" y="32461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8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HISTORY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7909560" y="3465576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visits YTD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909560" y="37947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8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ISSUES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7909560" y="4014216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dead tree, replacement quoted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909560" y="43434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8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WORK ORDER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7909560" y="4562856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22, mowing and edging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909560" y="48920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8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7909560" y="5111496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track, 3% under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909560" y="54406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8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7909560" y="5660136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Contract, 6 invoices, photos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·  COORDINATE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Vendor oversight that reads the reports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Amanda a vendor report or proposal. She answers what the board actually needs to know: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530352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761488"/>
            <a:ext cx="365760" cy="36576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761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51460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 was promised?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09360" y="2514600"/>
            <a:ext cx="530352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2761488"/>
            <a:ext cx="365760" cy="36576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3680" y="2761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251460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actually completed?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566160"/>
            <a:ext cx="530352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4400" y="3813048"/>
            <a:ext cx="365760" cy="36576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3813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356616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still open?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309360" y="3566160"/>
            <a:ext cx="530352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83680" y="3813048"/>
            <a:ext cx="365760" cy="36576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83680" y="3813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132320" y="356616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same issues recurring?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0080" y="4617720"/>
            <a:ext cx="530352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14400" y="4864608"/>
            <a:ext cx="365760" cy="36576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4400" y="4864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463040" y="461772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invoices match the contract?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309360" y="4617720"/>
            <a:ext cx="530352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583680" y="4864608"/>
            <a:ext cx="365760" cy="36576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83680" y="4864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132320" y="461772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the board care about this month?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&amp; RFP INTELLIGENCE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Bids compared, line by line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reads competing bids and surfaces the real differences, then flags what is missing and shows the source page for every figure.</a:t>
            </a:r>
            <a:endParaRPr lang="en-US" sz="15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86000"/>
          <a:ext cx="109728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194560"/>
                <a:gridCol w="2194560"/>
                <a:gridCol w="365760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Bid 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Bid 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B1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trustEd flag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Acreage covered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 ac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 ac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 scope, not apples to apples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Pruning frequency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2x / yr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4x / yr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includes more service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Irrigation responsibility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shifts cost to CLMA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Labor escalation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 / yr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stated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 B to confirm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Insurance / additional insured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stated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 COI before signing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Termination notice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days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 days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harder to exit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94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 ·  FINANCIAL INTELLIGENCE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the number a question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65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“Why is irrigation over budget?”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3063240"/>
            <a:ext cx="10972800" cy="2331720"/>
          </a:xfrm>
          <a:prstGeom prst="roundRect">
            <a:avLst>
              <a:gd name="adj" fmla="val 3137"/>
            </a:avLst>
          </a:prstGeom>
          <a:solidFill>
            <a:srgbClr val="14294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3291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Amanda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65760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7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 is $38,000 over budget year to date. 62% of it is three emergency repairs in Zones 4, 7, and 11. Here are the work orders, the invoices, and the board approvals behind each one.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89204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9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example. In the live demo Amanda answers from CLMA’s own records.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A9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variance is not just a number on a report. It is traced back to the work that caused it.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 ·  REPORT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monthly board package, assembled for you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operational meetings become one prepared package, built from the same records the work already produced.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10972800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615184"/>
            <a:ext cx="310896" cy="31089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2615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514600"/>
            <a:ext cx="10058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090672"/>
            <a:ext cx="10972800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41248" y="3191256"/>
            <a:ext cx="310896" cy="31089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1248" y="3191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090672"/>
            <a:ext cx="10058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performance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666744"/>
            <a:ext cx="10972800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1248" y="3767328"/>
            <a:ext cx="310896" cy="31089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1248" y="3767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666744"/>
            <a:ext cx="10058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status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4242816"/>
            <a:ext cx="10972800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1248" y="4343400"/>
            <a:ext cx="310896" cy="31089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41248" y="4343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4242816"/>
            <a:ext cx="10058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decisions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0080" y="4818888"/>
            <a:ext cx="10972800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41248" y="4919472"/>
            <a:ext cx="310896" cy="31089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41248" y="4919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4818888"/>
            <a:ext cx="10058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Quotes to review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40080" y="5394960"/>
            <a:ext cx="10972800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41248" y="5495544"/>
            <a:ext cx="310896" cy="31089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41248" y="5495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371600" y="5394960"/>
            <a:ext cx="10058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expiring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40080" y="5971032"/>
            <a:ext cx="10972800" cy="512064"/>
          </a:xfrm>
          <a:prstGeom prst="roundRect">
            <a:avLst>
              <a:gd name="adj" fmla="val 16071"/>
            </a:avLst>
          </a:prstGeom>
          <a:solidFill>
            <a:srgbClr val="FFF6DE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1248" y="6071616"/>
            <a:ext cx="310896" cy="31089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41248" y="6071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1371600" y="5971032"/>
            <a:ext cx="10058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 needing board action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mand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3017520" cy="3017520"/>
          </a:xfrm>
          <a:prstGeom prst="ellipse">
            <a:avLst/>
          </a:prstGeom>
          <a:effectLst>
            <a:outerShdw sx="100000" sy="100000" kx="0" ky="0" algn="bl" rotWithShape="0" blurRad="101600" dist="38100" dir="5400000">
              <a:srgbClr val="9AA5B1">
                <a:alpha val="35000"/>
              </a:srgbClr>
            </a:outerShdw>
          </a:effectLst>
        </p:spPr>
      </p:pic>
      <p:sp>
        <p:nvSpPr>
          <p:cNvPr id="3" name="Shape 0"/>
          <p:cNvSpPr/>
          <p:nvPr/>
        </p:nvSpPr>
        <p:spPr>
          <a:xfrm>
            <a:off x="2971800" y="3886200"/>
            <a:ext cx="777240" cy="7772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2971800" y="3886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4297680" y="1600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 COMMUNITY MANAGER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297680" y="19202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Amanda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4297680" y="274320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Amanda has CLMA’s contracts, financials, vendor reports, board decisions, projects, and operating history. Ask her anything about the association.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4297680" y="3886200"/>
            <a:ext cx="7589520" cy="1234440"/>
          </a:xfrm>
          <a:prstGeom prst="roundRect">
            <a:avLst>
              <a:gd name="adj" fmla="val 5926"/>
            </a:avLst>
          </a:prstGeom>
          <a:solidFill>
            <a:srgbClr val="0B1D3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617720" y="3886200"/>
            <a:ext cx="6949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i="1" dirty="0">
                <a:solidFill>
                  <a:srgbClr val="E7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shows where it came from, and flags anything she cannot verify from the documents.</a:t>
            </a:r>
            <a:endParaRPr lang="en-US" sz="1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TRANSITION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we’d start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friction on your side. We do the heavy lifting to bring CLMA into trustEd.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530352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2715768"/>
            <a:ext cx="457200" cy="45720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32688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67919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Records and documents loaded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950976" y="3264408"/>
            <a:ext cx="4681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Contracts, financials, vendor reports, and history brought in and indexed so Amanda can read them.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2423160"/>
            <a:ext cx="530352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01968" y="2715768"/>
            <a:ext cx="457200" cy="45720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01968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267919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assets mapped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6620256" y="3264408"/>
            <a:ext cx="4681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Monuments, esplanades, irrigation zones, tree corridors, and intersections placed on the map.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343400"/>
            <a:ext cx="530352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32688" y="4636008"/>
            <a:ext cx="457200" cy="45720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32688" y="4636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59943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Amanda trained on CLMA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950976" y="5184648"/>
            <a:ext cx="4681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answers from your own records, and shows her sources.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4343400"/>
            <a:ext cx="530352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01968" y="4636008"/>
            <a:ext cx="457200" cy="45720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601968" y="4636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459943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first board package the new way</a:t>
            </a:r>
            <a:endParaRPr lang="en-US" sz="1650" dirty="0"/>
          </a:p>
        </p:txBody>
      </p:sp>
      <p:sp>
        <p:nvSpPr>
          <p:cNvPr id="24" name="Text 22"/>
          <p:cNvSpPr txBox="1"/>
          <p:nvPr/>
        </p:nvSpPr>
        <p:spPr>
          <a:xfrm>
            <a:off x="6620256" y="5184648"/>
            <a:ext cx="4681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monthly package, assembled from the work itself.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572000"/>
            <a:ext cx="4023360" cy="4023360"/>
          </a:xfrm>
          <a:prstGeom prst="ellipse">
            <a:avLst/>
          </a:prstGeom>
          <a:solidFill>
            <a:srgbClr val="14294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822960"/>
            <a:ext cx="457200" cy="45720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822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8600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did not make homeowner-HOA software fit CLMA.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657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i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trustEd adapts to how your organization actually operates.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0292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managers who used the other tools first, then built the one that does the work.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126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100" kern="0" dirty="0">
                <a:solidFill>
                  <a:srgbClr val="A9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Association Management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Bedrock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Bedrock Association Management</dc:creator>
  <cp:lastModifiedBy>Bedrock Association Management</cp:lastModifiedBy>
  <cp:revision>1</cp:revision>
  <dcterms:created xsi:type="dcterms:W3CDTF">2026-09-18T15:06:12Z</dcterms:created>
  <dcterms:modified xsi:type="dcterms:W3CDTF">2026-09-18T15:06:12Z</dcterms:modified>
</cp:coreProperties>
</file>